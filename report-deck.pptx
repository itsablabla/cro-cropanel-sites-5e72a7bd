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2011680"/>
            <a:ext cx="10515600" cy="1463040"/>
          </a:xfrm>
          <a:prstGeom prst="rect">
            <a:avLst/>
          </a:prstGeom>
          <a:noFill/>
        </p:spPr>
        <p:txBody>
          <a:bodyPr wrap="square">
            <a:spAutoFit/>
          </a:bodyPr>
          <a:lstStyle/>
          <a:p>
            <a:pPr algn="l"/>
            <a:r>
              <a:rPr sz="4400" b="1">
                <a:solidFill>
                  <a:srgbClr val="FFFFFF"/>
                </a:solidFill>
                <a:latin typeface="Trebuchet MS"/>
              </a:rPr>
              <a:t>Where the Conversion Leaks Are</a:t>
            </a:r>
          </a:p>
        </p:txBody>
      </p:sp>
      <p:sp>
        <p:nvSpPr>
          <p:cNvPr id="3" name="TextBox 2"/>
          <p:cNvSpPr txBox="1"/>
          <p:nvPr/>
        </p:nvSpPr>
        <p:spPr>
          <a:xfrm>
            <a:off x="822960" y="3200400"/>
            <a:ext cx="10515600" cy="548640"/>
          </a:xfrm>
          <a:prstGeom prst="rect">
            <a:avLst/>
          </a:prstGeom>
          <a:noFill/>
        </p:spPr>
        <p:txBody>
          <a:bodyPr wrap="square">
            <a:spAutoFit/>
          </a:bodyPr>
          <a:lstStyle/>
          <a:p>
            <a:pPr algn="l"/>
            <a:r>
              <a:rPr sz="1800" b="0">
                <a:solidFill>
                  <a:srgbClr val="3DB891"/>
                </a:solidFill>
                <a:latin typeface="Trebuchet MS"/>
              </a:rPr>
              <a:t>nomadinternet.com  ·  CRO Recommendations  ·  August 2026</a:t>
            </a:r>
          </a:p>
        </p:txBody>
      </p:sp>
      <p:sp>
        <p:nvSpPr>
          <p:cNvPr id="4" name="TextBox 3"/>
          <p:cNvSpPr txBox="1"/>
          <p:nvPr/>
        </p:nvSpPr>
        <p:spPr>
          <a:xfrm>
            <a:off x="822960" y="4206240"/>
            <a:ext cx="10515600" cy="548640"/>
          </a:xfrm>
          <a:prstGeom prst="rect">
            <a:avLst/>
          </a:prstGeom>
          <a:noFill/>
        </p:spPr>
        <p:txBody>
          <a:bodyPr wrap="square">
            <a:spAutoFit/>
          </a:bodyPr>
          <a:lstStyle/>
          <a:p>
            <a:pPr algn="l"/>
            <a:r>
              <a:rPr sz="1500" b="0">
                <a:solidFill>
                  <a:srgbClr val="7A9E8E"/>
                </a:solidFill>
                <a:latin typeface="Trebuchet MS"/>
              </a:rPr>
              <a:t>Overall grade B (83/100)  ·  10 findings  ·  4 verified by measurement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THE CORE FINDING</a:t>
            </a:r>
          </a:p>
        </p:txBody>
      </p:sp>
      <p:sp>
        <p:nvSpPr>
          <p:cNvPr id="3" name="TextBox 2"/>
          <p:cNvSpPr txBox="1"/>
          <p:nvPr/>
        </p:nvSpPr>
        <p:spPr>
          <a:xfrm>
            <a:off x="822960" y="1188720"/>
            <a:ext cx="10515600" cy="2011680"/>
          </a:xfrm>
          <a:prstGeom prst="rect">
            <a:avLst/>
          </a:prstGeom>
          <a:noFill/>
        </p:spPr>
        <p:txBody>
          <a:bodyPr wrap="square">
            <a:spAutoFit/>
          </a:bodyPr>
          <a:lstStyle/>
          <a:p>
            <a:pPr algn="l"/>
            <a:r>
              <a:rPr sz="2200" b="0">
                <a:solidFill>
                  <a:srgbClr val="FFFFFF"/>
                </a:solidFill>
                <a:latin typeface="Trebuchet MS"/>
              </a:rPr>
              <a:t>The single most valuable conversion mechanism on this site is guiding users through the coverage and qualification process to view and select internet plans. This mechanism is bleeding value because critical forms are unusable, with evidence showing they "render without visible input fields or labels," and mobile usability is severely hampered as "every tap target [is] too small" due to a missing responsive viewport, collectively preventing users from completing essential steps.</a:t>
            </a:r>
          </a:p>
        </p:txBody>
      </p:sp>
      <p:sp>
        <p:nvSpPr>
          <p:cNvPr id="4" name="TextBox 3"/>
          <p:cNvSpPr txBox="1"/>
          <p:nvPr/>
        </p:nvSpPr>
        <p:spPr>
          <a:xfrm>
            <a:off x="822960" y="3840480"/>
            <a:ext cx="10515600" cy="731520"/>
          </a:xfrm>
          <a:prstGeom prst="rect">
            <a:avLst/>
          </a:prstGeom>
          <a:noFill/>
        </p:spPr>
        <p:txBody>
          <a:bodyPr wrap="square">
            <a:spAutoFit/>
          </a:bodyPr>
          <a:lstStyle/>
          <a:p>
            <a:pPr algn="l"/>
            <a:r>
              <a:rPr sz="3000" b="1">
                <a:solidFill>
                  <a:srgbClr val="3DB891"/>
                </a:solidFill>
                <a:latin typeface="Trebuchet MS"/>
              </a:rPr>
              <a:t>2.1–9.4 orders per 1,000 visitors</a:t>
            </a:r>
          </a:p>
        </p:txBody>
      </p:sp>
      <p:sp>
        <p:nvSpPr>
          <p:cNvPr id="5" name="TextBox 4"/>
          <p:cNvSpPr txBox="1"/>
          <p:nvPr/>
        </p:nvSpPr>
        <p:spPr>
          <a:xfrm>
            <a:off x="822960" y="4663440"/>
            <a:ext cx="10515600" cy="1280160"/>
          </a:xfrm>
          <a:prstGeom prst="rect">
            <a:avLst/>
          </a:prstGeom>
          <a:noFill/>
        </p:spPr>
        <p:txBody>
          <a:bodyPr wrap="square">
            <a:spAutoFit/>
          </a:bodyPr>
          <a:lstStyle/>
          <a:p>
            <a:pPr algn="l"/>
            <a:r>
              <a:rPr sz="1200" b="0">
                <a:solidFill>
                  <a:srgbClr val="7A9E8E"/>
                </a:solidFill>
                <a:latin typeface="Trebuchet MS"/>
              </a:rPr>
              <a:t>Sized opportunity if every change ships and wins — an assumption-bounded range, not a forecast. Roughly 10–30% of A/B tests produce a significant win. The arithmetic for every figure is in the full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PRIORITISED FINDINGS</a:t>
            </a:r>
          </a:p>
        </p:txBody>
      </p:sp>
      <p:sp>
        <p:nvSpPr>
          <p:cNvPr id="3" name="TextBox 2"/>
          <p:cNvSpPr txBox="1"/>
          <p:nvPr/>
        </p:nvSpPr>
        <p:spPr>
          <a:xfrm>
            <a:off x="822960" y="1097280"/>
            <a:ext cx="548640" cy="365760"/>
          </a:xfrm>
          <a:prstGeom prst="rect">
            <a:avLst/>
          </a:prstGeom>
          <a:noFill/>
        </p:spPr>
        <p:txBody>
          <a:bodyPr wrap="square">
            <a:spAutoFit/>
          </a:bodyPr>
          <a:lstStyle/>
          <a:p>
            <a:pPr algn="l"/>
            <a:r>
              <a:rPr sz="1600" b="1">
                <a:solidFill>
                  <a:srgbClr val="008061"/>
                </a:solidFill>
                <a:latin typeface="Trebuchet MS"/>
              </a:rPr>
              <a:t>1</a:t>
            </a:r>
          </a:p>
        </p:txBody>
      </p:sp>
      <p:sp>
        <p:nvSpPr>
          <p:cNvPr id="4" name="TextBox 3"/>
          <p:cNvSpPr txBox="1"/>
          <p:nvPr/>
        </p:nvSpPr>
        <p:spPr>
          <a:xfrm>
            <a:off x="1371600" y="1097280"/>
            <a:ext cx="6949440" cy="365760"/>
          </a:xfrm>
          <a:prstGeom prst="rect">
            <a:avLst/>
          </a:prstGeom>
          <a:noFill/>
        </p:spPr>
        <p:txBody>
          <a:bodyPr wrap="square">
            <a:spAutoFit/>
          </a:bodyPr>
          <a:lstStyle/>
          <a:p>
            <a:pPr algn="l"/>
            <a:r>
              <a:rPr sz="1600" b="1">
                <a:solidFill>
                  <a:srgbClr val="FFFFFF"/>
                </a:solidFill>
                <a:latin typeface="Trebuchet MS"/>
              </a:rPr>
              <a:t>Weak Security Headers</a:t>
            </a:r>
          </a:p>
        </p:txBody>
      </p:sp>
      <p:sp>
        <p:nvSpPr>
          <p:cNvPr id="5" name="TextBox 4"/>
          <p:cNvSpPr txBox="1"/>
          <p:nvPr/>
        </p:nvSpPr>
        <p:spPr>
          <a:xfrm>
            <a:off x="8412480" y="1097280"/>
            <a:ext cx="2926080" cy="365760"/>
          </a:xfrm>
          <a:prstGeom prst="rect">
            <a:avLst/>
          </a:prstGeom>
          <a:noFill/>
        </p:spPr>
        <p:txBody>
          <a:bodyPr wrap="square">
            <a:spAutoFit/>
          </a:bodyPr>
          <a:lstStyle/>
          <a:p>
            <a:pPr algn="l"/>
            <a:r>
              <a:rPr sz="1200" b="0">
                <a:solidFill>
                  <a:srgbClr val="7A9E8E"/>
                </a:solidFill>
                <a:latin typeface="Trebuchet MS"/>
              </a:rPr>
              <a:t>Medium · Medium · PXL 6/10</a:t>
            </a:r>
          </a:p>
        </p:txBody>
      </p:sp>
      <p:sp>
        <p:nvSpPr>
          <p:cNvPr id="6" name="TextBox 5"/>
          <p:cNvSpPr txBox="1"/>
          <p:nvPr/>
        </p:nvSpPr>
        <p:spPr>
          <a:xfrm>
            <a:off x="1371600" y="1664207"/>
            <a:ext cx="9966960" cy="365760"/>
          </a:xfrm>
          <a:prstGeom prst="rect">
            <a:avLst/>
          </a:prstGeom>
          <a:noFill/>
        </p:spPr>
        <p:txBody>
          <a:bodyPr wrap="square">
            <a:spAutoFit/>
          </a:bodyPr>
          <a:lstStyle/>
          <a:p>
            <a:pPr algn="l"/>
            <a:r>
              <a:rPr sz="1100" b="0">
                <a:solidFill>
                  <a:srgbClr val="7A9E8E"/>
                </a:solidFill>
                <a:latin typeface="Trebuchet MS"/>
              </a:rPr>
              <a:t>Three of six standard security headers are absent, which weakens protection against XSS, clickjacking and downgrade atta</a:t>
            </a:r>
          </a:p>
        </p:txBody>
      </p:sp>
      <p:sp>
        <p:nvSpPr>
          <p:cNvPr id="7" name="TextBox 6"/>
          <p:cNvSpPr txBox="1"/>
          <p:nvPr/>
        </p:nvSpPr>
        <p:spPr>
          <a:xfrm>
            <a:off x="822960" y="2167128"/>
            <a:ext cx="548640" cy="365760"/>
          </a:xfrm>
          <a:prstGeom prst="rect">
            <a:avLst/>
          </a:prstGeom>
          <a:noFill/>
        </p:spPr>
        <p:txBody>
          <a:bodyPr wrap="square">
            <a:spAutoFit/>
          </a:bodyPr>
          <a:lstStyle/>
          <a:p>
            <a:pPr algn="l"/>
            <a:r>
              <a:rPr sz="1600" b="1">
                <a:solidFill>
                  <a:srgbClr val="008061"/>
                </a:solidFill>
                <a:latin typeface="Trebuchet MS"/>
              </a:rPr>
              <a:t>2</a:t>
            </a:r>
          </a:p>
        </p:txBody>
      </p:sp>
      <p:sp>
        <p:nvSpPr>
          <p:cNvPr id="8" name="TextBox 7"/>
          <p:cNvSpPr txBox="1"/>
          <p:nvPr/>
        </p:nvSpPr>
        <p:spPr>
          <a:xfrm>
            <a:off x="1371600" y="2167128"/>
            <a:ext cx="6949440" cy="365760"/>
          </a:xfrm>
          <a:prstGeom prst="rect">
            <a:avLst/>
          </a:prstGeom>
          <a:noFill/>
        </p:spPr>
        <p:txBody>
          <a:bodyPr wrap="square">
            <a:spAutoFit/>
          </a:bodyPr>
          <a:lstStyle/>
          <a:p>
            <a:pPr algn="l"/>
            <a:r>
              <a:rPr sz="1600" b="1">
                <a:solidFill>
                  <a:srgbClr val="FFFFFF"/>
                </a:solidFill>
                <a:latin typeface="Trebuchet MS"/>
              </a:rPr>
              <a:t>Slow Script Load</a:t>
            </a:r>
          </a:p>
        </p:txBody>
      </p:sp>
      <p:sp>
        <p:nvSpPr>
          <p:cNvPr id="9" name="TextBox 8"/>
          <p:cNvSpPr txBox="1"/>
          <p:nvPr/>
        </p:nvSpPr>
        <p:spPr>
          <a:xfrm>
            <a:off x="8412480" y="2167128"/>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10" name="TextBox 9"/>
          <p:cNvSpPr txBox="1"/>
          <p:nvPr/>
        </p:nvSpPr>
        <p:spPr>
          <a:xfrm>
            <a:off x="1371600" y="2734056"/>
            <a:ext cx="9966960" cy="365760"/>
          </a:xfrm>
          <a:prstGeom prst="rect">
            <a:avLst/>
          </a:prstGeom>
          <a:noFill/>
        </p:spPr>
        <p:txBody>
          <a:bodyPr wrap="square">
            <a:spAutoFit/>
          </a:bodyPr>
          <a:lstStyle/>
          <a:p>
            <a:pPr algn="l"/>
            <a:r>
              <a:rPr sz="1100" b="0">
                <a:solidFill>
                  <a:srgbClr val="7A9E8E"/>
                </a:solidFill>
                <a:latin typeface="Trebuchet MS"/>
              </a:rPr>
              <a:t>The homepage loads 65 scripts, which is the usual root cause of slow interaction readiness on mobile.</a:t>
            </a:r>
          </a:p>
        </p:txBody>
      </p:sp>
      <p:sp>
        <p:nvSpPr>
          <p:cNvPr id="11" name="TextBox 10"/>
          <p:cNvSpPr txBox="1"/>
          <p:nvPr/>
        </p:nvSpPr>
        <p:spPr>
          <a:xfrm>
            <a:off x="822960" y="3236976"/>
            <a:ext cx="548640" cy="365760"/>
          </a:xfrm>
          <a:prstGeom prst="rect">
            <a:avLst/>
          </a:prstGeom>
          <a:noFill/>
        </p:spPr>
        <p:txBody>
          <a:bodyPr wrap="square">
            <a:spAutoFit/>
          </a:bodyPr>
          <a:lstStyle/>
          <a:p>
            <a:pPr algn="l"/>
            <a:r>
              <a:rPr sz="1600" b="1">
                <a:solidFill>
                  <a:srgbClr val="C0392B"/>
                </a:solidFill>
                <a:latin typeface="Trebuchet MS"/>
              </a:rPr>
              <a:t>3</a:t>
            </a:r>
          </a:p>
        </p:txBody>
      </p:sp>
      <p:sp>
        <p:nvSpPr>
          <p:cNvPr id="12" name="TextBox 11"/>
          <p:cNvSpPr txBox="1"/>
          <p:nvPr/>
        </p:nvSpPr>
        <p:spPr>
          <a:xfrm>
            <a:off x="1371600" y="3236976"/>
            <a:ext cx="6949440" cy="365760"/>
          </a:xfrm>
          <a:prstGeom prst="rect">
            <a:avLst/>
          </a:prstGeom>
          <a:noFill/>
        </p:spPr>
        <p:txBody>
          <a:bodyPr wrap="square">
            <a:spAutoFit/>
          </a:bodyPr>
          <a:lstStyle/>
          <a:p>
            <a:pPr algn="l"/>
            <a:r>
              <a:rPr sz="1600" b="1">
                <a:solidFill>
                  <a:srgbClr val="FFFFFF"/>
                </a:solidFill>
                <a:latin typeface="Trebuchet MS"/>
              </a:rPr>
              <a:t>No Responsive Viewport</a:t>
            </a:r>
          </a:p>
        </p:txBody>
      </p:sp>
      <p:sp>
        <p:nvSpPr>
          <p:cNvPr id="13" name="TextBox 12"/>
          <p:cNvSpPr txBox="1"/>
          <p:nvPr/>
        </p:nvSpPr>
        <p:spPr>
          <a:xfrm>
            <a:off x="8412480" y="3236976"/>
            <a:ext cx="2926080" cy="365760"/>
          </a:xfrm>
          <a:prstGeom prst="rect">
            <a:avLst/>
          </a:prstGeom>
          <a:noFill/>
        </p:spPr>
        <p:txBody>
          <a:bodyPr wrap="square">
            <a:spAutoFit/>
          </a:bodyPr>
          <a:lstStyle/>
          <a:p>
            <a:pPr algn="l"/>
            <a:r>
              <a:rPr sz="1200" b="0">
                <a:solidFill>
                  <a:srgbClr val="7A9E8E"/>
                </a:solidFill>
                <a:latin typeface="Trebuchet MS"/>
              </a:rPr>
              <a:t>Urgent · Medium · PXL 4/10</a:t>
            </a:r>
          </a:p>
        </p:txBody>
      </p:sp>
      <p:sp>
        <p:nvSpPr>
          <p:cNvPr id="14" name="TextBox 13"/>
          <p:cNvSpPr txBox="1"/>
          <p:nvPr/>
        </p:nvSpPr>
        <p:spPr>
          <a:xfrm>
            <a:off x="1371600" y="3803904"/>
            <a:ext cx="9966960" cy="365760"/>
          </a:xfrm>
          <a:prstGeom prst="rect">
            <a:avLst/>
          </a:prstGeom>
          <a:noFill/>
        </p:spPr>
        <p:txBody>
          <a:bodyPr wrap="square">
            <a:spAutoFit/>
          </a:bodyPr>
          <a:lstStyle/>
          <a:p>
            <a:pPr algn="l"/>
            <a:r>
              <a:rPr sz="1100" b="0">
                <a:solidFill>
                  <a:srgbClr val="7A9E8E"/>
                </a:solidFill>
                <a:latin typeface="Trebuchet MS"/>
              </a:rPr>
              <a:t>Mobile browsers render the desktop layout scaled down, making every tap target too small and hindering interaction.</a:t>
            </a:r>
          </a:p>
        </p:txBody>
      </p:sp>
      <p:sp>
        <p:nvSpPr>
          <p:cNvPr id="15" name="TextBox 14"/>
          <p:cNvSpPr txBox="1"/>
          <p:nvPr/>
        </p:nvSpPr>
        <p:spPr>
          <a:xfrm>
            <a:off x="822960" y="4306824"/>
            <a:ext cx="548640" cy="365760"/>
          </a:xfrm>
          <a:prstGeom prst="rect">
            <a:avLst/>
          </a:prstGeom>
          <a:noFill/>
        </p:spPr>
        <p:txBody>
          <a:bodyPr wrap="square">
            <a:spAutoFit/>
          </a:bodyPr>
          <a:lstStyle/>
          <a:p>
            <a:pPr algn="l"/>
            <a:r>
              <a:rPr sz="1600" b="1">
                <a:solidFill>
                  <a:srgbClr val="C0392B"/>
                </a:solidFill>
                <a:latin typeface="Trebuchet MS"/>
              </a:rPr>
              <a:t>4</a:t>
            </a:r>
          </a:p>
        </p:txBody>
      </p:sp>
      <p:sp>
        <p:nvSpPr>
          <p:cNvPr id="16" name="TextBox 15"/>
          <p:cNvSpPr txBox="1"/>
          <p:nvPr/>
        </p:nvSpPr>
        <p:spPr>
          <a:xfrm>
            <a:off x="1371600" y="4306824"/>
            <a:ext cx="6949440" cy="365760"/>
          </a:xfrm>
          <a:prstGeom prst="rect">
            <a:avLst/>
          </a:prstGeom>
          <a:noFill/>
        </p:spPr>
        <p:txBody>
          <a:bodyPr wrap="square">
            <a:spAutoFit/>
          </a:bodyPr>
          <a:lstStyle/>
          <a:p>
            <a:pPr algn="l"/>
            <a:r>
              <a:rPr sz="1600" b="1">
                <a:solidFill>
                  <a:srgbClr val="FFFFFF"/>
                </a:solidFill>
                <a:latin typeface="Trebuchet MS"/>
              </a:rPr>
              <a:t>Unusable Coverage Forms</a:t>
            </a:r>
          </a:p>
        </p:txBody>
      </p:sp>
      <p:sp>
        <p:nvSpPr>
          <p:cNvPr id="17" name="TextBox 16"/>
          <p:cNvSpPr txBox="1"/>
          <p:nvPr/>
        </p:nvSpPr>
        <p:spPr>
          <a:xfrm>
            <a:off x="8412480" y="4306824"/>
            <a:ext cx="2926080" cy="365760"/>
          </a:xfrm>
          <a:prstGeom prst="rect">
            <a:avLst/>
          </a:prstGeom>
          <a:noFill/>
        </p:spPr>
        <p:txBody>
          <a:bodyPr wrap="square">
            <a:spAutoFit/>
          </a:bodyPr>
          <a:lstStyle/>
          <a:p>
            <a:pPr algn="l"/>
            <a:r>
              <a:rPr sz="1200" b="0">
                <a:solidFill>
                  <a:srgbClr val="7A9E8E"/>
                </a:solidFill>
                <a:latin typeface="Trebuchet MS"/>
              </a:rPr>
              <a:t>Urgent · Low · PXL 4/10</a:t>
            </a:r>
          </a:p>
        </p:txBody>
      </p:sp>
      <p:sp>
        <p:nvSpPr>
          <p:cNvPr id="18" name="TextBox 17"/>
          <p:cNvSpPr txBox="1"/>
          <p:nvPr/>
        </p:nvSpPr>
        <p:spPr>
          <a:xfrm>
            <a:off x="1371600" y="4873752"/>
            <a:ext cx="9966960" cy="365760"/>
          </a:xfrm>
          <a:prstGeom prst="rect">
            <a:avLst/>
          </a:prstGeom>
          <a:noFill/>
        </p:spPr>
        <p:txBody>
          <a:bodyPr wrap="square">
            <a:spAutoFit/>
          </a:bodyPr>
          <a:lstStyle/>
          <a:p>
            <a:pPr algn="l"/>
            <a:r>
              <a:rPr sz="1100" b="0">
                <a:solidFill>
                  <a:srgbClr val="7A9E8E"/>
                </a:solidFill>
                <a:latin typeface="Trebuchet MS"/>
              </a:rPr>
              <a:t>Critical coverage and qualification forms are unusable because they lack visible input fields or labels, preventing user</a:t>
            </a:r>
          </a:p>
        </p:txBody>
      </p:sp>
      <p:sp>
        <p:nvSpPr>
          <p:cNvPr id="19" name="TextBox 18"/>
          <p:cNvSpPr txBox="1"/>
          <p:nvPr/>
        </p:nvSpPr>
        <p:spPr>
          <a:xfrm>
            <a:off x="822960" y="5376672"/>
            <a:ext cx="548640" cy="365760"/>
          </a:xfrm>
          <a:prstGeom prst="rect">
            <a:avLst/>
          </a:prstGeom>
          <a:noFill/>
        </p:spPr>
        <p:txBody>
          <a:bodyPr wrap="square">
            <a:spAutoFit/>
          </a:bodyPr>
          <a:lstStyle/>
          <a:p>
            <a:pPr algn="l"/>
            <a:r>
              <a:rPr sz="1600" b="1">
                <a:solidFill>
                  <a:srgbClr val="008061"/>
                </a:solidFill>
                <a:latin typeface="Trebuchet MS"/>
              </a:rPr>
              <a:t>5</a:t>
            </a:r>
          </a:p>
        </p:txBody>
      </p:sp>
      <p:sp>
        <p:nvSpPr>
          <p:cNvPr id="20" name="TextBox 19"/>
          <p:cNvSpPr txBox="1"/>
          <p:nvPr/>
        </p:nvSpPr>
        <p:spPr>
          <a:xfrm>
            <a:off x="1371600" y="5376672"/>
            <a:ext cx="6949440" cy="365760"/>
          </a:xfrm>
          <a:prstGeom prst="rect">
            <a:avLst/>
          </a:prstGeom>
          <a:noFill/>
        </p:spPr>
        <p:txBody>
          <a:bodyPr wrap="square">
            <a:spAutoFit/>
          </a:bodyPr>
          <a:lstStyle/>
          <a:p>
            <a:pPr algn="l"/>
            <a:r>
              <a:rPr sz="1600" b="1">
                <a:solidFill>
                  <a:srgbClr val="FFFFFF"/>
                </a:solidFill>
                <a:latin typeface="Trebuchet MS"/>
              </a:rPr>
              <a:t>Fragmented Plan Paths</a:t>
            </a:r>
          </a:p>
        </p:txBody>
      </p:sp>
      <p:sp>
        <p:nvSpPr>
          <p:cNvPr id="21" name="TextBox 20"/>
          <p:cNvSpPr txBox="1"/>
          <p:nvPr/>
        </p:nvSpPr>
        <p:spPr>
          <a:xfrm>
            <a:off x="8412480" y="5376672"/>
            <a:ext cx="2926080" cy="365760"/>
          </a:xfrm>
          <a:prstGeom prst="rect">
            <a:avLst/>
          </a:prstGeom>
          <a:noFill/>
        </p:spPr>
        <p:txBody>
          <a:bodyPr wrap="square">
            <a:spAutoFit/>
          </a:bodyPr>
          <a:lstStyle/>
          <a:p>
            <a:pPr algn="l"/>
            <a:r>
              <a:rPr sz="1200" b="0">
                <a:solidFill>
                  <a:srgbClr val="7A9E8E"/>
                </a:solidFill>
                <a:latin typeface="Trebuchet MS"/>
              </a:rPr>
              <a:t>High · Medium · PXL 4/10</a:t>
            </a:r>
          </a:p>
        </p:txBody>
      </p:sp>
      <p:sp>
        <p:nvSpPr>
          <p:cNvPr id="22" name="TextBox 21"/>
          <p:cNvSpPr txBox="1"/>
          <p:nvPr/>
        </p:nvSpPr>
        <p:spPr>
          <a:xfrm>
            <a:off x="1371600" y="5943600"/>
            <a:ext cx="9966960" cy="365760"/>
          </a:xfrm>
          <a:prstGeom prst="rect">
            <a:avLst/>
          </a:prstGeom>
          <a:noFill/>
        </p:spPr>
        <p:txBody>
          <a:bodyPr wrap="square">
            <a:spAutoFit/>
          </a:bodyPr>
          <a:lstStyle/>
          <a:p>
            <a:pPr algn="l"/>
            <a:r>
              <a:rPr sz="1100" b="0">
                <a:solidFill>
                  <a:srgbClr val="7A9E8E"/>
                </a:solidFill>
                <a:latin typeface="Trebuchet MS"/>
              </a:rPr>
              <a:t>Identical plan content across multiple URLs fragments the user journey and obscures the canonical next step.</a:t>
            </a:r>
          </a:p>
        </p:txBody>
      </p:sp>
      <p:sp>
        <p:nvSpPr>
          <p:cNvPr id="23" name="TextBox 22"/>
          <p:cNvSpPr txBox="1"/>
          <p:nvPr/>
        </p:nvSpPr>
        <p:spPr>
          <a:xfrm>
            <a:off x="822960" y="6446520"/>
            <a:ext cx="548640" cy="365760"/>
          </a:xfrm>
          <a:prstGeom prst="rect">
            <a:avLst/>
          </a:prstGeom>
          <a:noFill/>
        </p:spPr>
        <p:txBody>
          <a:bodyPr wrap="square">
            <a:spAutoFit/>
          </a:bodyPr>
          <a:lstStyle/>
          <a:p>
            <a:pPr algn="l"/>
            <a:r>
              <a:rPr sz="1600" b="1">
                <a:solidFill>
                  <a:srgbClr val="008061"/>
                </a:solidFill>
                <a:latin typeface="Trebuchet MS"/>
              </a:rPr>
              <a:t>6</a:t>
            </a:r>
          </a:p>
        </p:txBody>
      </p:sp>
      <p:sp>
        <p:nvSpPr>
          <p:cNvPr id="24" name="TextBox 23"/>
          <p:cNvSpPr txBox="1"/>
          <p:nvPr/>
        </p:nvSpPr>
        <p:spPr>
          <a:xfrm>
            <a:off x="1371600" y="6446520"/>
            <a:ext cx="6949440" cy="365760"/>
          </a:xfrm>
          <a:prstGeom prst="rect">
            <a:avLst/>
          </a:prstGeom>
          <a:noFill/>
        </p:spPr>
        <p:txBody>
          <a:bodyPr wrap="square">
            <a:spAutoFit/>
          </a:bodyPr>
          <a:lstStyle/>
          <a:p>
            <a:pPr algn="l"/>
            <a:r>
              <a:rPr sz="1600" b="1">
                <a:solidFill>
                  <a:srgbClr val="FFFFFF"/>
                </a:solidFill>
                <a:latin typeface="Trebuchet MS"/>
              </a:rPr>
              <a:t>Duplicate CONTINUE Buttons</a:t>
            </a:r>
          </a:p>
        </p:txBody>
      </p:sp>
      <p:sp>
        <p:nvSpPr>
          <p:cNvPr id="25" name="TextBox 24"/>
          <p:cNvSpPr txBox="1"/>
          <p:nvPr/>
        </p:nvSpPr>
        <p:spPr>
          <a:xfrm>
            <a:off x="8412480" y="6446520"/>
            <a:ext cx="2926080" cy="365760"/>
          </a:xfrm>
          <a:prstGeom prst="rect">
            <a:avLst/>
          </a:prstGeom>
          <a:noFill/>
        </p:spPr>
        <p:txBody>
          <a:bodyPr wrap="square">
            <a:spAutoFit/>
          </a:bodyPr>
          <a:lstStyle/>
          <a:p>
            <a:pPr algn="l"/>
            <a:r>
              <a:rPr sz="1200" b="0">
                <a:solidFill>
                  <a:srgbClr val="7A9E8E"/>
                </a:solidFill>
                <a:latin typeface="Trebuchet MS"/>
              </a:rPr>
              <a:t>High · Low · PXL 4/10</a:t>
            </a:r>
          </a:p>
        </p:txBody>
      </p:sp>
      <p:sp>
        <p:nvSpPr>
          <p:cNvPr id="26" name="TextBox 25"/>
          <p:cNvSpPr txBox="1"/>
          <p:nvPr/>
        </p:nvSpPr>
        <p:spPr>
          <a:xfrm>
            <a:off x="1371600" y="7013448"/>
            <a:ext cx="9966960" cy="365760"/>
          </a:xfrm>
          <a:prstGeom prst="rect">
            <a:avLst/>
          </a:prstGeom>
          <a:noFill/>
        </p:spPr>
        <p:txBody>
          <a:bodyPr wrap="square">
            <a:spAutoFit/>
          </a:bodyPr>
          <a:lstStyle/>
          <a:p>
            <a:pPr algn="l"/>
            <a:r>
              <a:rPr sz="1100" b="0">
                <a:solidFill>
                  <a:srgbClr val="7A9E8E"/>
                </a:solidFill>
                <a:latin typeface="Trebuchet MS"/>
              </a:rPr>
              <a:t>Multiple identical 'CONTINUE' buttons on the same page create confusion, forcing users to guess the correct action.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1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Weak Security Headers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live origin: missing X-Frame-Options, Referrer-Policy, Permissions-Policy."</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3 of 6 standard security headers are absent, which weakens protection against XSS, clickjacking and downgrade attacks.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2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Slow Script Load</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live homepage: 33 inline and 32 external &lt;script&gt; tags, 403 KB of HTML."</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homepage loads 65 scripts, which is the usual root cause of slow interaction readiness on mobile.</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C0392B"/>
                </a:solidFill>
                <a:latin typeface="Trebuchet MS"/>
              </a:rPr>
              <a:t>PRIORITY 3 — Urgent</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No Responsive Viewport</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mobile render: no &lt;meta name="viewport"&gt; present."</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Without a viewport meta tag mobile browsers render the desktop layout scaled down, making every tap target too small.</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0.4–1.6 orders/1k visitors if it wins  ·  effort Medium  ·  2-5 days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C0392B"/>
                </a:solidFill>
                <a:latin typeface="Trebuchet MS"/>
              </a:rPr>
              <a:t>PRIORITY 4 — Urgent</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Unusable Coverage Forms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"form: inputs=0 submit=CONTINUE labels=[]"</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Critical forms (coverage check, qualification) are unusable because they lack visible input fields or labels, preventing user interaction.</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0.4–1.6 orders/1k visitors if it wins  ·  effort Low  ·  0.5-2 days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5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Fragmented Plan Paths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"h1: Let's Get You the Right Internet"</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Identical plan content across multiple URLs fragments the user journey and obscures the canonical next step.</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FOUR-WEEK ROADMAP</a:t>
            </a:r>
          </a:p>
        </p:txBody>
      </p:sp>
      <p:sp>
        <p:nvSpPr>
          <p:cNvPr id="3" name="TextBox 2"/>
          <p:cNvSpPr txBox="1"/>
          <p:nvPr/>
        </p:nvSpPr>
        <p:spPr>
          <a:xfrm>
            <a:off x="640080" y="1188720"/>
            <a:ext cx="2651760" cy="365760"/>
          </a:xfrm>
          <a:prstGeom prst="rect">
            <a:avLst/>
          </a:prstGeom>
          <a:noFill/>
        </p:spPr>
        <p:txBody>
          <a:bodyPr wrap="square">
            <a:spAutoFit/>
          </a:bodyPr>
          <a:lstStyle/>
          <a:p>
            <a:pPr algn="l"/>
            <a:r>
              <a:rPr sz="1500" b="1">
                <a:solidFill>
                  <a:srgbClr val="008061"/>
                </a:solidFill>
                <a:latin typeface="Trebuchet MS"/>
              </a:rPr>
              <a:t>Week 1</a:t>
            </a:r>
          </a:p>
        </p:txBody>
      </p:sp>
      <p:sp>
        <p:nvSpPr>
          <p:cNvPr id="4" name="TextBox 3"/>
          <p:cNvSpPr txBox="1"/>
          <p:nvPr/>
        </p:nvSpPr>
        <p:spPr>
          <a:xfrm>
            <a:off x="640080" y="1737360"/>
            <a:ext cx="2651760" cy="731520"/>
          </a:xfrm>
          <a:prstGeom prst="rect">
            <a:avLst/>
          </a:prstGeom>
          <a:noFill/>
        </p:spPr>
        <p:txBody>
          <a:bodyPr wrap="square">
            <a:spAutoFit/>
          </a:bodyPr>
          <a:lstStyle/>
          <a:p>
            <a:pPr algn="l"/>
            <a:r>
              <a:rPr sz="1100" b="0">
                <a:solidFill>
                  <a:srgbClr val="FFFFFF"/>
                </a:solidFill>
                <a:latin typeface="Trebuchet MS"/>
              </a:rPr>
              <a:t>• Unusable Coverage Forms</a:t>
            </a:r>
          </a:p>
        </p:txBody>
      </p:sp>
      <p:sp>
        <p:nvSpPr>
          <p:cNvPr id="5" name="TextBox 4"/>
          <p:cNvSpPr txBox="1"/>
          <p:nvPr/>
        </p:nvSpPr>
        <p:spPr>
          <a:xfrm>
            <a:off x="640080" y="2240280"/>
            <a:ext cx="2651760" cy="731520"/>
          </a:xfrm>
          <a:prstGeom prst="rect">
            <a:avLst/>
          </a:prstGeom>
          <a:noFill/>
        </p:spPr>
        <p:txBody>
          <a:bodyPr wrap="square">
            <a:spAutoFit/>
          </a:bodyPr>
          <a:lstStyle/>
          <a:p>
            <a:pPr algn="l"/>
            <a:r>
              <a:rPr sz="1100" b="0">
                <a:solidFill>
                  <a:srgbClr val="FFFFFF"/>
                </a:solidFill>
                <a:latin typeface="Trebuchet MS"/>
              </a:rPr>
              <a:t>• No Responsive Viewport</a:t>
            </a:r>
          </a:p>
        </p:txBody>
      </p:sp>
      <p:sp>
        <p:nvSpPr>
          <p:cNvPr id="6" name="TextBox 5"/>
          <p:cNvSpPr txBox="1"/>
          <p:nvPr/>
        </p:nvSpPr>
        <p:spPr>
          <a:xfrm>
            <a:off x="640080" y="2743200"/>
            <a:ext cx="2651760" cy="731520"/>
          </a:xfrm>
          <a:prstGeom prst="rect">
            <a:avLst/>
          </a:prstGeom>
          <a:noFill/>
        </p:spPr>
        <p:txBody>
          <a:bodyPr wrap="square">
            <a:spAutoFit/>
          </a:bodyPr>
          <a:lstStyle/>
          <a:p>
            <a:pPr algn="l"/>
            <a:r>
              <a:rPr sz="1100" b="0">
                <a:solidFill>
                  <a:srgbClr val="FFFFFF"/>
                </a:solidFill>
                <a:latin typeface="Trebuchet MS"/>
              </a:rPr>
              <a:t>• Duplicate CONTINUE Buttons</a:t>
            </a:r>
          </a:p>
        </p:txBody>
      </p:sp>
      <p:sp>
        <p:nvSpPr>
          <p:cNvPr id="7" name="TextBox 6"/>
          <p:cNvSpPr txBox="1"/>
          <p:nvPr/>
        </p:nvSpPr>
        <p:spPr>
          <a:xfrm>
            <a:off x="3474720" y="1188720"/>
            <a:ext cx="2651760" cy="365760"/>
          </a:xfrm>
          <a:prstGeom prst="rect">
            <a:avLst/>
          </a:prstGeom>
          <a:noFill/>
        </p:spPr>
        <p:txBody>
          <a:bodyPr wrap="square">
            <a:spAutoFit/>
          </a:bodyPr>
          <a:lstStyle/>
          <a:p>
            <a:pPr algn="l"/>
            <a:r>
              <a:rPr sz="1500" b="1">
                <a:solidFill>
                  <a:srgbClr val="008061"/>
                </a:solidFill>
                <a:latin typeface="Trebuchet MS"/>
              </a:rPr>
              <a:t>Week 2</a:t>
            </a:r>
          </a:p>
        </p:txBody>
      </p:sp>
      <p:sp>
        <p:nvSpPr>
          <p:cNvPr id="8" name="TextBox 7"/>
          <p:cNvSpPr txBox="1"/>
          <p:nvPr/>
        </p:nvSpPr>
        <p:spPr>
          <a:xfrm>
            <a:off x="3474720" y="1737360"/>
            <a:ext cx="2651760" cy="731520"/>
          </a:xfrm>
          <a:prstGeom prst="rect">
            <a:avLst/>
          </a:prstGeom>
          <a:noFill/>
        </p:spPr>
        <p:txBody>
          <a:bodyPr wrap="square">
            <a:spAutoFit/>
          </a:bodyPr>
          <a:lstStyle/>
          <a:p>
            <a:pPr algn="l"/>
            <a:r>
              <a:rPr sz="1100" b="0">
                <a:solidFill>
                  <a:srgbClr val="FFFFFF"/>
                </a:solidFill>
                <a:latin typeface="Trebuchet MS"/>
              </a:rPr>
              <a:t>• Inaccessible Controls</a:t>
            </a:r>
          </a:p>
        </p:txBody>
      </p:sp>
      <p:sp>
        <p:nvSpPr>
          <p:cNvPr id="9" name="TextBox 8"/>
          <p:cNvSpPr txBox="1"/>
          <p:nvPr/>
        </p:nvSpPr>
        <p:spPr>
          <a:xfrm>
            <a:off x="3474720" y="2240280"/>
            <a:ext cx="2651760" cy="731520"/>
          </a:xfrm>
          <a:prstGeom prst="rect">
            <a:avLst/>
          </a:prstGeom>
          <a:noFill/>
        </p:spPr>
        <p:txBody>
          <a:bodyPr wrap="square">
            <a:spAutoFit/>
          </a:bodyPr>
          <a:lstStyle/>
          <a:p>
            <a:pPr algn="l"/>
            <a:r>
              <a:rPr sz="1100" b="0">
                <a:solidFill>
                  <a:srgbClr val="FFFFFF"/>
                </a:solidFill>
                <a:latin typeface="Trebuchet MS"/>
              </a:rPr>
              <a:t>• Weak Security Headers</a:t>
            </a:r>
          </a:p>
        </p:txBody>
      </p:sp>
      <p:sp>
        <p:nvSpPr>
          <p:cNvPr id="10" name="TextBox 9"/>
          <p:cNvSpPr txBox="1"/>
          <p:nvPr/>
        </p:nvSpPr>
        <p:spPr>
          <a:xfrm>
            <a:off x="6309360" y="1188720"/>
            <a:ext cx="2651760" cy="365760"/>
          </a:xfrm>
          <a:prstGeom prst="rect">
            <a:avLst/>
          </a:prstGeom>
          <a:noFill/>
        </p:spPr>
        <p:txBody>
          <a:bodyPr wrap="square">
            <a:spAutoFit/>
          </a:bodyPr>
          <a:lstStyle/>
          <a:p>
            <a:pPr algn="l"/>
            <a:r>
              <a:rPr sz="1500" b="1">
                <a:solidFill>
                  <a:srgbClr val="008061"/>
                </a:solidFill>
                <a:latin typeface="Trebuchet MS"/>
              </a:rPr>
              <a:t>Week 3</a:t>
            </a:r>
          </a:p>
        </p:txBody>
      </p:sp>
      <p:sp>
        <p:nvSpPr>
          <p:cNvPr id="11" name="TextBox 10"/>
          <p:cNvSpPr txBox="1"/>
          <p:nvPr/>
        </p:nvSpPr>
        <p:spPr>
          <a:xfrm>
            <a:off x="6309360" y="1737360"/>
            <a:ext cx="2651760" cy="731520"/>
          </a:xfrm>
          <a:prstGeom prst="rect">
            <a:avLst/>
          </a:prstGeom>
          <a:noFill/>
        </p:spPr>
        <p:txBody>
          <a:bodyPr wrap="square">
            <a:spAutoFit/>
          </a:bodyPr>
          <a:lstStyle/>
          <a:p>
            <a:pPr algn="l"/>
            <a:r>
              <a:rPr sz="1100" b="0">
                <a:solidFill>
                  <a:srgbClr val="FFFFFF"/>
                </a:solidFill>
                <a:latin typeface="Trebuchet MS"/>
              </a:rPr>
              <a:t>• Slow Script Load</a:t>
            </a:r>
          </a:p>
        </p:txBody>
      </p:sp>
      <p:sp>
        <p:nvSpPr>
          <p:cNvPr id="12" name="TextBox 11"/>
          <p:cNvSpPr txBox="1"/>
          <p:nvPr/>
        </p:nvSpPr>
        <p:spPr>
          <a:xfrm>
            <a:off x="6309360" y="2240280"/>
            <a:ext cx="2651760" cy="731520"/>
          </a:xfrm>
          <a:prstGeom prst="rect">
            <a:avLst/>
          </a:prstGeom>
          <a:noFill/>
        </p:spPr>
        <p:txBody>
          <a:bodyPr wrap="square">
            <a:spAutoFit/>
          </a:bodyPr>
          <a:lstStyle/>
          <a:p>
            <a:pPr algn="l"/>
            <a:r>
              <a:rPr sz="1100" b="0">
                <a:solidFill>
                  <a:srgbClr val="FFFFFF"/>
                </a:solidFill>
                <a:latin typeface="Trebuchet MS"/>
              </a:rPr>
              <a:t>• Fragmented Plan Paths</a:t>
            </a:r>
          </a:p>
        </p:txBody>
      </p:sp>
      <p:sp>
        <p:nvSpPr>
          <p:cNvPr id="13" name="TextBox 12"/>
          <p:cNvSpPr txBox="1"/>
          <p:nvPr/>
        </p:nvSpPr>
        <p:spPr>
          <a:xfrm>
            <a:off x="6309360" y="2743200"/>
            <a:ext cx="2651760" cy="731520"/>
          </a:xfrm>
          <a:prstGeom prst="rect">
            <a:avLst/>
          </a:prstGeom>
          <a:noFill/>
        </p:spPr>
        <p:txBody>
          <a:bodyPr wrap="square">
            <a:spAutoFit/>
          </a:bodyPr>
          <a:lstStyle/>
          <a:p>
            <a:pPr algn="l"/>
            <a:r>
              <a:rPr sz="1100" b="0">
                <a:solidFill>
                  <a:srgbClr val="FFFFFF"/>
                </a:solidFill>
                <a:latin typeface="Trebuchet MS"/>
              </a:rPr>
              <a:t>• Missing Trust Signals</a:t>
            </a:r>
          </a:p>
        </p:txBody>
      </p:sp>
      <p:sp>
        <p:nvSpPr>
          <p:cNvPr id="14" name="TextBox 13"/>
          <p:cNvSpPr txBox="1"/>
          <p:nvPr/>
        </p:nvSpPr>
        <p:spPr>
          <a:xfrm>
            <a:off x="9144000" y="1188720"/>
            <a:ext cx="2651760" cy="365760"/>
          </a:xfrm>
          <a:prstGeom prst="rect">
            <a:avLst/>
          </a:prstGeom>
          <a:noFill/>
        </p:spPr>
        <p:txBody>
          <a:bodyPr wrap="square">
            <a:spAutoFit/>
          </a:bodyPr>
          <a:lstStyle/>
          <a:p>
            <a:pPr algn="l"/>
            <a:r>
              <a:rPr sz="1500" b="1">
                <a:solidFill>
                  <a:srgbClr val="008061"/>
                </a:solidFill>
                <a:latin typeface="Trebuchet MS"/>
              </a:rPr>
              <a:t>Week 4</a:t>
            </a:r>
          </a:p>
        </p:txBody>
      </p:sp>
      <p:sp>
        <p:nvSpPr>
          <p:cNvPr id="15" name="TextBox 14"/>
          <p:cNvSpPr txBox="1"/>
          <p:nvPr/>
        </p:nvSpPr>
        <p:spPr>
          <a:xfrm>
            <a:off x="9144000" y="1737360"/>
            <a:ext cx="2651760" cy="731520"/>
          </a:xfrm>
          <a:prstGeom prst="rect">
            <a:avLst/>
          </a:prstGeom>
          <a:noFill/>
        </p:spPr>
        <p:txBody>
          <a:bodyPr wrap="square">
            <a:spAutoFit/>
          </a:bodyPr>
          <a:lstStyle/>
          <a:p>
            <a:pPr algn="l"/>
            <a:r>
              <a:rPr sz="1100" b="0">
                <a:solidFill>
                  <a:srgbClr val="FFFFFF"/>
                </a:solidFill>
                <a:latin typeface="Trebuchet MS"/>
              </a:rPr>
              <a:t>• Confusing CTA Options</a:t>
            </a:r>
          </a:p>
        </p:txBody>
      </p:sp>
      <p:sp>
        <p:nvSpPr>
          <p:cNvPr id="16" name="TextBox 15"/>
          <p:cNvSpPr txBox="1"/>
          <p:nvPr/>
        </p:nvSpPr>
        <p:spPr>
          <a:xfrm>
            <a:off x="9144000" y="2240280"/>
            <a:ext cx="2651760" cy="731520"/>
          </a:xfrm>
          <a:prstGeom prst="rect">
            <a:avLst/>
          </a:prstGeom>
          <a:noFill/>
        </p:spPr>
        <p:txBody>
          <a:bodyPr wrap="square">
            <a:spAutoFit/>
          </a:bodyPr>
          <a:lstStyle/>
          <a:p>
            <a:pPr algn="l"/>
            <a:r>
              <a:rPr sz="1100" b="0">
                <a:solidFill>
                  <a:srgbClr val="FFFFFF"/>
                </a:solidFill>
                <a:latin typeface="Trebuchet MS"/>
              </a:rPr>
              <a:t>• Inefficient Funnel Order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HOW TO READ THIS</a:t>
            </a:r>
          </a:p>
        </p:txBody>
      </p:sp>
      <p:sp>
        <p:nvSpPr>
          <p:cNvPr id="3" name="TextBox 2"/>
          <p:cNvSpPr txBox="1"/>
          <p:nvPr/>
        </p:nvSpPr>
        <p:spPr>
          <a:xfrm>
            <a:off x="822960" y="1280160"/>
            <a:ext cx="10515600" cy="4206240"/>
          </a:xfrm>
          <a:prstGeom prst="rect">
            <a:avLst/>
          </a:prstGeom>
          <a:noFill/>
        </p:spPr>
        <p:txBody>
          <a:bodyPr wrap="square">
            <a:spAutoFit/>
          </a:bodyPr>
          <a:lstStyle/>
          <a:p>
            <a:pPr algn="l"/>
            <a:r>
              <a:rPr sz="1500" b="0">
                <a:solidFill>
                  <a:srgbClr val="FFFFFF"/>
                </a:solidFill>
                <a:latin typeface="Trebuchet MS"/>
              </a:rPr>
              <a:t>7 independent analysts reviewed the live site: six heuristic specialists plus one deterministic measurement pass (Core Web Vitals field data, accessibility, security headers, SEO metadata).
Findings marked 'verified' are reproducible measurements. Everything else is expert inspection with quoted evidence — a hypothesis until tested.
Every number in the report carries its arithmetic: click 'How is this calculated?' next to any figure. Opportunity ranges assume the change ships AND wins; they are never forecasts.
Full evidence, PXL scoring, developer specs and experiment designs are in the web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